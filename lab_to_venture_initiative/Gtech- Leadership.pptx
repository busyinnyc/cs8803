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mr Arafa" initials="AA" lastIdx="1" clrIdx="0">
    <p:extLst>
      <p:ext uri="{19B8F6BF-5375-455C-9EA6-DF929625EA0E}">
        <p15:presenceInfo xmlns:p15="http://schemas.microsoft.com/office/powerpoint/2012/main" userId="e2704ab33124330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99"/>
    <a:srgbClr val="0085C0"/>
    <a:srgbClr val="0221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0" autoAdjust="0"/>
    <p:restoredTop sz="94660"/>
  </p:normalViewPr>
  <p:slideViewPr>
    <p:cSldViewPr snapToGrid="0">
      <p:cViewPr>
        <p:scale>
          <a:sx n="75" d="100"/>
          <a:sy n="75" d="100"/>
        </p:scale>
        <p:origin x="760" y="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4-28T16:46:44.052" idx="1">
    <p:pos x="5838" y="414"/>
    <p:text/>
    <p:extLst>
      <p:ext uri="{C676402C-5697-4E1C-873F-D02D1690AC5C}">
        <p15:threadingInfo xmlns:p15="http://schemas.microsoft.com/office/powerpoint/2012/main" timeZoneBias="24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A3AC07-27D9-4ADC-BB24-55D4BB6E72AE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36C757-E4C3-4B43-A01D-50FB9E602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763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CABFA-69E6-4495-AB90-EB94F4F4C9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404008-E49C-49D5-BC75-5B4860CDBE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0FD894-E0AA-40E5-9B74-845AE6BBF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1681F-793C-4DE6-9531-872617C567D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37674-9D39-46FE-B0D9-887FDCA25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26A90-704F-4F7D-AAA7-B7892651A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B6EAD-C350-4AED-A944-4FA3F26CD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021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3F9C3-195E-4EC9-A046-A2FFD7452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91013-9D4D-46EA-9EFF-503149EDF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309437-B8FC-40A0-8ED4-C6FE7A6DC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1681F-793C-4DE6-9531-872617C567D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50FC8-CC80-4A59-850C-8864FD90A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2E10F-9483-47AE-BC26-9F348A0D3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B6EAD-C350-4AED-A944-4FA3F26CD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826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6105D-03FD-4D3A-BD4B-88F9FAD41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9FF86B-262E-4417-819B-7360691426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EF2F4-A788-4F42-BCC1-DE299CD45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1681F-793C-4DE6-9531-872617C567D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D4F09-A7D7-415A-9EB9-0CF4D00D7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132716-E46A-4243-AD5A-771177783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B6EAD-C350-4AED-A944-4FA3F26CD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094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E4BD4-66D8-4DF2-8257-45B670178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0579F-AE05-4946-B7C8-35439EB86E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763B34-C35B-4D18-9EC0-BC2B8C1480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F44580-A9FA-4640-AB1F-0B263DBE1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1681F-793C-4DE6-9531-872617C567D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234193-8E30-42C5-ACB5-F34D255EA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5EBF45-BD9D-40DF-84F0-45BE1E8C8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B6EAD-C350-4AED-A944-4FA3F26CD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88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FE297-8380-4A65-A495-2A3CB6A2F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75F396-D5E3-4135-8903-241CBA2CC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504724-8A30-4C34-AB93-1322D733B6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415D9B-671A-4FED-AC0D-19CA92D5B1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E92B9A-7778-4DA5-B786-CBDB1C4879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5EB6BC-FBF8-44FB-AF9A-E966B33B9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1681F-793C-4DE6-9531-872617C567D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78CA9B-9EE1-46E1-9FCB-BD2BBDCD4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7813DD-EC09-4FBE-87E0-3D4F0245A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B6EAD-C350-4AED-A944-4FA3F26CD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231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2A7FF-5B59-4AF3-A78C-8C279821F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641474-78DE-4776-A0B1-0051EA226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1681F-793C-4DE6-9531-872617C567D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EF3557-D6CD-4C21-A919-57BBF33E8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2F5DF0-16AD-4543-ADDB-896835B0D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B6EAD-C350-4AED-A944-4FA3F26CD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337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8F282B-B4E1-4A77-A390-23B8BD9CA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1681F-793C-4DE6-9531-872617C567D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1C7B3D-A5FF-470E-9770-134C600DD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AEA789-0683-40E1-8454-7C40B4874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B6EAD-C350-4AED-A944-4FA3F26CD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343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10ACC-4EED-4457-9C09-D9A3B41A1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483F5-9F60-4801-86D4-C3E45B379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FB76B5-C87F-40A6-A368-F55D35BC32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BCA233-B670-4480-9381-25341DC50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1681F-793C-4DE6-9531-872617C567D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637081-2027-46FB-B483-5C023971D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4C1B10-FF01-4760-B012-E66E92C54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B6EAD-C350-4AED-A944-4FA3F26CD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696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11385-7DA2-4D2A-B872-B0B4CB31B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00A403-B860-419E-A639-B8AC9D584A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E6A003-4198-42C4-96CF-4827D3D883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B6C5CC-9A96-445B-8B49-6FFD78705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1681F-793C-4DE6-9531-872617C567D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1043E3-A463-4E5B-BB97-3C1D2CFC0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CF4A26-F12D-4AA9-A9E2-E37CBAB18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B6EAD-C350-4AED-A944-4FA3F26CD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92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47A92-397D-481E-AB45-4CC2D083C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C4E491-F556-4F10-B66F-7CC434DB88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B36597-EE4A-4A3C-9006-D8C6DDC7F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1681F-793C-4DE6-9531-872617C567D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B371A-48A4-431F-8501-21DE5E2B9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18D07C-45B7-4F5D-AEDD-62AC26CE0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B6EAD-C350-4AED-A944-4FA3F26CD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174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E8BA0D-299C-447E-8080-9FAF9BBCE2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F548C8-ADDE-4054-B367-2720239005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BD059-97E8-4AF1-8683-BE7A90FA9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1681F-793C-4DE6-9531-872617C567D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5A236-2BE4-4D92-9C5E-F7EA4E9F7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463817-114D-4369-8EF3-4150BA8D2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B6EAD-C350-4AED-A944-4FA3F26CD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695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4E5CA7-09C4-4DAF-AD9C-7BFD7BB94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331718-E9D3-4441-8F03-3044EF1BA5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6522F-36C0-4D1C-9FC1-3702A9BEBA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01681F-793C-4DE6-9531-872617C567D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B6E753-24DD-4A50-8006-BCDA605D47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26AF3-643D-4744-AC28-90121EFF56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0B6EAD-C350-4AED-A944-4FA3F26CD9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084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comments" Target="../comments/commen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E6209-E63A-4BA3-AF1E-CD10AA8D23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b="1" dirty="0"/>
              <a:t>CS-8803 MGMT &amp; Leadership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8AB26C-55DB-4263-9692-4D7DA1E820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Lab to Venture Capital - Bridging the Innovation Gap Initiative</a:t>
            </a:r>
          </a:p>
          <a:p>
            <a:r>
              <a:rPr lang="en-US" dirty="0"/>
              <a:t>Amr Arafa</a:t>
            </a:r>
          </a:p>
        </p:txBody>
      </p:sp>
    </p:spTree>
    <p:extLst>
      <p:ext uri="{BB962C8B-B14F-4D97-AF65-F5344CB8AC3E}">
        <p14:creationId xmlns:p14="http://schemas.microsoft.com/office/powerpoint/2010/main" val="3548581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B7840-3930-4C5C-A0B4-19C56C196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Leaders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36EB8-937F-47EC-9EEF-E9A4E1BC6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91989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3800" b="1" dirty="0"/>
              <a:t>Jeff Bezos</a:t>
            </a:r>
            <a:endParaRPr lang="en-US" sz="3800" dirty="0"/>
          </a:p>
          <a:p>
            <a:pPr marL="0" indent="0">
              <a:buNone/>
            </a:pPr>
            <a:r>
              <a:rPr lang="en-US" b="1" dirty="0"/>
              <a:t>Former CEO of Amazon </a:t>
            </a:r>
            <a:r>
              <a:rPr lang="en-US" sz="1900" b="1" dirty="0"/>
              <a:t>/Former </a:t>
            </a:r>
            <a:r>
              <a:rPr lang="en-US" sz="1900" b="1" dirty="0">
                <a:solidFill>
                  <a:srgbClr val="00B0F0"/>
                </a:solidFill>
              </a:rPr>
              <a:t>Product</a:t>
            </a:r>
            <a:r>
              <a:rPr lang="en-US" sz="1900" b="1" dirty="0"/>
              <a:t> Manager (Bankers Trust)</a:t>
            </a:r>
            <a:endParaRPr lang="en-US" sz="1900" dirty="0"/>
          </a:p>
          <a:p>
            <a:pPr marL="0" indent="0">
              <a:buNone/>
            </a:pPr>
            <a:r>
              <a:rPr lang="en-US" dirty="0"/>
              <a:t>Embedded the PM mindset into Amazon by inventing the famous "Working Backwards" (PR/FAQ) product framework.</a:t>
            </a:r>
          </a:p>
          <a:p>
            <a:pPr marL="0" indent="0">
              <a:buNone/>
            </a:pPr>
            <a:r>
              <a:rPr lang="en-US" sz="3800" b="1" dirty="0"/>
              <a:t>Satya Nadella</a:t>
            </a:r>
            <a:endParaRPr lang="en-US" sz="3800" dirty="0"/>
          </a:p>
          <a:p>
            <a:pPr marL="0" indent="0">
              <a:buNone/>
            </a:pPr>
            <a:r>
              <a:rPr lang="en-US" b="1" dirty="0"/>
              <a:t>CEO of Microsoft </a:t>
            </a:r>
            <a:r>
              <a:rPr lang="en-US" sz="1900" b="1" dirty="0"/>
              <a:t>/Former </a:t>
            </a:r>
            <a:r>
              <a:rPr lang="en-US" sz="1900" b="1" dirty="0">
                <a:solidFill>
                  <a:srgbClr val="00B0F0"/>
                </a:solidFill>
              </a:rPr>
              <a:t>Product</a:t>
            </a:r>
            <a:r>
              <a:rPr lang="en-US" sz="1900" b="1" dirty="0"/>
              <a:t> Manager  </a:t>
            </a:r>
            <a:endParaRPr lang="en-US" sz="2400" dirty="0"/>
          </a:p>
          <a:p>
            <a:pPr marL="0" indent="0">
              <a:buNone/>
            </a:pPr>
            <a:r>
              <a:rPr lang="en-US" dirty="0"/>
              <a:t>Started as a Product Manager and spearheaded the company's massive pivot to the Azure cloud platform.</a:t>
            </a:r>
          </a:p>
          <a:p>
            <a:pPr marL="0" indent="0">
              <a:buNone/>
            </a:pPr>
            <a:r>
              <a:rPr lang="en-US" sz="3800" b="1" dirty="0"/>
              <a:t>Sundar Pichai</a:t>
            </a:r>
            <a:endParaRPr lang="en-US" sz="3800" dirty="0"/>
          </a:p>
          <a:p>
            <a:pPr marL="0" indent="0">
              <a:buNone/>
            </a:pPr>
            <a:r>
              <a:rPr lang="en-US" b="1" dirty="0"/>
              <a:t>CEO of Google </a:t>
            </a:r>
            <a:r>
              <a:rPr lang="en-US" sz="1900" b="1" dirty="0"/>
              <a:t>/Former </a:t>
            </a:r>
            <a:r>
              <a:rPr lang="en-US" sz="1900" b="1" dirty="0">
                <a:solidFill>
                  <a:srgbClr val="00B0F0"/>
                </a:solidFill>
              </a:rPr>
              <a:t>Product</a:t>
            </a:r>
            <a:r>
              <a:rPr lang="en-US" sz="1900" b="1" dirty="0"/>
              <a:t> Manager </a:t>
            </a:r>
            <a:endParaRPr lang="en-US" sz="1900" dirty="0"/>
          </a:p>
          <a:p>
            <a:pPr marL="0" indent="0">
              <a:buNone/>
            </a:pPr>
            <a:r>
              <a:rPr lang="en-US" dirty="0"/>
              <a:t>Joined as a Product Manager and built his leadership reputation by launching Google Chrome.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86457E-2227-456E-A3B2-4A98318EA5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1628" y="1381543"/>
            <a:ext cx="2558045" cy="19229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F217FF-58B0-498E-BFAC-4479512923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938" y="2343810"/>
            <a:ext cx="2328342" cy="24194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D6419A5-F061-4F1E-BE09-55B64D58E4B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6179"/>
          <a:stretch/>
        </p:blipFill>
        <p:spPr>
          <a:xfrm>
            <a:off x="8972490" y="4320865"/>
            <a:ext cx="2206573" cy="2055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377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56D49-0450-45AB-9470-7253D1A1E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00B0F0"/>
                </a:solidFill>
              </a:rPr>
              <a:t>Product</a:t>
            </a:r>
            <a:r>
              <a:rPr lang="en-US" sz="4000" dirty="0"/>
              <a:t> Management VS </a:t>
            </a:r>
            <a:r>
              <a:rPr lang="en-US" sz="4000" dirty="0">
                <a:solidFill>
                  <a:srgbClr val="FF0000"/>
                </a:solidFill>
              </a:rPr>
              <a:t>Project</a:t>
            </a:r>
            <a:r>
              <a:rPr lang="en-US" sz="4000" dirty="0"/>
              <a:t> Management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629DCEE-6F5C-4B02-9B36-8F934931D6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6897" y="1690688"/>
            <a:ext cx="6803192" cy="4351338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0E9D7AE-A8B3-4579-95E2-E8877FD2F517}"/>
              </a:ext>
            </a:extLst>
          </p:cNvPr>
          <p:cNvSpPr txBox="1"/>
          <p:nvPr/>
        </p:nvSpPr>
        <p:spPr>
          <a:xfrm>
            <a:off x="9514689" y="5118696"/>
            <a:ext cx="25781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Let’s not:</a:t>
            </a:r>
          </a:p>
          <a:p>
            <a:r>
              <a:rPr lang="en-US" dirty="0">
                <a:solidFill>
                  <a:srgbClr val="FF0000"/>
                </a:solidFill>
              </a:rPr>
              <a:t>Go Over Budget</a:t>
            </a:r>
          </a:p>
          <a:p>
            <a:r>
              <a:rPr lang="en-US" dirty="0">
                <a:solidFill>
                  <a:srgbClr val="FF0000"/>
                </a:solidFill>
              </a:rPr>
              <a:t>Miss Deadlines</a:t>
            </a:r>
          </a:p>
          <a:p>
            <a:r>
              <a:rPr lang="en-US" dirty="0">
                <a:solidFill>
                  <a:srgbClr val="FF0000"/>
                </a:solidFill>
              </a:rPr>
              <a:t>Miss Scope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CBCC86A-E363-4D87-8147-CE03103D41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4689" y="3340697"/>
            <a:ext cx="2019404" cy="168506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CEE9BE7-E2B3-4064-A72B-6DE29842C4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032" y="3340697"/>
            <a:ext cx="2019405" cy="168506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27AFE16-63F9-4C86-8E0E-368D378361EC}"/>
              </a:ext>
            </a:extLst>
          </p:cNvPr>
          <p:cNvSpPr txBox="1"/>
          <p:nvPr/>
        </p:nvSpPr>
        <p:spPr>
          <a:xfrm>
            <a:off x="99117" y="5257195"/>
            <a:ext cx="29227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Let’s not: </a:t>
            </a:r>
          </a:p>
          <a:p>
            <a:r>
              <a:rPr lang="en-US" dirty="0">
                <a:solidFill>
                  <a:srgbClr val="FF0000"/>
                </a:solidFill>
              </a:rPr>
              <a:t>Deliver a </a:t>
            </a:r>
            <a:r>
              <a:rPr lang="en-US" b="1" dirty="0">
                <a:solidFill>
                  <a:srgbClr val="FF0000"/>
                </a:solidFill>
              </a:rPr>
              <a:t>“solution looking for a problem to solve”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C73C947-A827-47F2-B7DC-4C50C2FDE0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0129" y="5841036"/>
            <a:ext cx="1594560" cy="834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167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88495-8F10-405B-9C13-2AD97AA2C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285D8-AE00-47D3-B301-3E4E96F1DB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FDC504-FE5E-4F16-A0B3-B8C65AE32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985" y="0"/>
            <a:ext cx="106400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870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9D060-35E3-4FA8-8D37-60D9FA064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Discovery VS Commercial Viability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C21FEE-2B2C-4F1F-92E7-9D17A3DCBD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89314" y="2542363"/>
            <a:ext cx="2598243" cy="2549526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389FF0A-CF15-4C51-9F60-8B4E67AA515A}"/>
              </a:ext>
            </a:extLst>
          </p:cNvPr>
          <p:cNvSpPr txBox="1"/>
          <p:nvPr/>
        </p:nvSpPr>
        <p:spPr>
          <a:xfrm>
            <a:off x="838200" y="1511933"/>
            <a:ext cx="803766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The gap between groundbreaking academic research and commercial viability is referred to as the </a:t>
            </a:r>
            <a:r>
              <a:rPr lang="en-US" sz="2200" b="1" dirty="0">
                <a:solidFill>
                  <a:srgbClr val="FF0000"/>
                </a:solidFill>
              </a:rPr>
              <a:t>"Valley of Death“.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Annually, universities pour nearly </a:t>
            </a:r>
            <a:r>
              <a:rPr lang="en-US" sz="2200" b="1" dirty="0"/>
              <a:t>$90 billion </a:t>
            </a:r>
            <a:r>
              <a:rPr lang="en-US" sz="2200" dirty="0"/>
              <a:t>into R&amp;D, yet </a:t>
            </a:r>
            <a:r>
              <a:rPr lang="en-US" sz="2200" b="1" dirty="0">
                <a:solidFill>
                  <a:srgbClr val="FF0000"/>
                </a:solidFill>
              </a:rPr>
              <a:t>fewer than 10% </a:t>
            </a:r>
            <a:r>
              <a:rPr lang="en-US" sz="2200" dirty="0"/>
              <a:t>of patented academic discoveries transition into commercialized products.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B050"/>
                </a:solidFill>
              </a:rPr>
              <a:t>Commercialized research benefits </a:t>
            </a:r>
            <a:r>
              <a:rPr lang="en-US" sz="2200" b="1" dirty="0">
                <a:solidFill>
                  <a:srgbClr val="00B050"/>
                </a:solidFill>
              </a:rPr>
              <a:t>Researchers ($$$)</a:t>
            </a:r>
            <a:r>
              <a:rPr lang="en-US" sz="2200" dirty="0">
                <a:solidFill>
                  <a:srgbClr val="00B050"/>
                </a:solidFill>
              </a:rPr>
              <a:t>, the </a:t>
            </a:r>
            <a:r>
              <a:rPr lang="en-US" sz="2200" b="1" dirty="0">
                <a:solidFill>
                  <a:srgbClr val="00B050"/>
                </a:solidFill>
              </a:rPr>
              <a:t>Universities (ROI)</a:t>
            </a:r>
            <a:r>
              <a:rPr lang="en-US" sz="2200" dirty="0">
                <a:solidFill>
                  <a:srgbClr val="00B050"/>
                </a:solidFill>
              </a:rPr>
              <a:t>, and </a:t>
            </a:r>
            <a:r>
              <a:rPr lang="en-US" sz="2200" b="1" dirty="0">
                <a:solidFill>
                  <a:srgbClr val="00B050"/>
                </a:solidFill>
              </a:rPr>
              <a:t>Society (solving real problems)</a:t>
            </a:r>
            <a:r>
              <a:rPr lang="en-US" sz="2200" dirty="0">
                <a:solidFill>
                  <a:srgbClr val="00B050"/>
                </a:solidFill>
              </a:rPr>
              <a:t>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F0"/>
                </a:solidFill>
              </a:rPr>
              <a:t>G</a:t>
            </a:r>
            <a:r>
              <a:rPr lang="en-US" dirty="0">
                <a:solidFill>
                  <a:srgbClr val="FF0000"/>
                </a:solidFill>
              </a:rPr>
              <a:t>o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</a:t>
            </a:r>
            <a:r>
              <a:rPr lang="en-US" dirty="0">
                <a:solidFill>
                  <a:srgbClr val="00B0F0"/>
                </a:solidFill>
              </a:rPr>
              <a:t>g</a:t>
            </a:r>
            <a:r>
              <a:rPr lang="en-US" dirty="0">
                <a:solidFill>
                  <a:srgbClr val="00B050"/>
                </a:solidFill>
              </a:rPr>
              <a:t>l</a:t>
            </a:r>
            <a:r>
              <a:rPr lang="en-US" dirty="0">
                <a:solidFill>
                  <a:srgbClr val="FF0000"/>
                </a:solidFill>
              </a:rPr>
              <a:t>e</a:t>
            </a:r>
            <a:r>
              <a:rPr lang="en-US" dirty="0">
                <a:solidFill>
                  <a:srgbClr val="00B050"/>
                </a:solidFill>
              </a:rPr>
              <a:t>: </a:t>
            </a:r>
            <a:r>
              <a:rPr lang="en-US" dirty="0"/>
              <a:t>Researchers ($100B), Stanford ($336M), Society (Organizing the world’s information)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6699"/>
                </a:solidFill>
              </a:rPr>
              <a:t>BioNTech / Moderna: </a:t>
            </a:r>
            <a:r>
              <a:rPr lang="en-US" dirty="0"/>
              <a:t>Researchers (~$100M+), University of Pennsylvania ($1.2B), Society (Saving lives i.e.COVID-19 vaccines)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C000"/>
                </a:solidFill>
              </a:rPr>
              <a:t>Gatorade</a:t>
            </a:r>
            <a:r>
              <a:rPr lang="en-US" dirty="0">
                <a:solidFill>
                  <a:srgbClr val="FFC000"/>
                </a:solidFill>
              </a:rPr>
              <a:t>: </a:t>
            </a:r>
            <a:r>
              <a:rPr lang="en-US" dirty="0"/>
              <a:t>Researchers ($250M+), University of Florida ($1B+), Society (Invented modern sports hydration)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220250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8E897-C3AC-4703-A330-D8EDA1BC2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</a:t>
            </a:r>
            <a:r>
              <a:rPr lang="en-US" b="1" dirty="0">
                <a:solidFill>
                  <a:srgbClr val="C00000"/>
                </a:solidFill>
              </a:rPr>
              <a:t>MIT</a:t>
            </a:r>
            <a:r>
              <a:rPr lang="en-US" b="1" dirty="0"/>
              <a:t>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E5F8C-6244-4CBB-A7C1-1EE0E2871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281397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Top-tier research institutions do not leave commercialization to chance or rely on administrative serendipity. </a:t>
            </a:r>
          </a:p>
          <a:p>
            <a:pPr lvl="1"/>
            <a:r>
              <a:rPr lang="en-US" dirty="0"/>
              <a:t>They treat it as a rigorous, standardized pipeline.  </a:t>
            </a:r>
          </a:p>
          <a:p>
            <a:endParaRPr lang="en-US" dirty="0"/>
          </a:p>
          <a:p>
            <a:r>
              <a:rPr lang="en-US" dirty="0"/>
              <a:t>Massachusetts Institute of Technology (</a:t>
            </a:r>
            <a:r>
              <a:rPr lang="en-US" dirty="0">
                <a:solidFill>
                  <a:srgbClr val="C00000"/>
                </a:solidFill>
              </a:rPr>
              <a:t>MIT</a:t>
            </a:r>
            <a:r>
              <a:rPr lang="en-US" dirty="0"/>
              <a:t>) Spins out over </a:t>
            </a:r>
            <a:r>
              <a:rPr lang="en-US" b="1" dirty="0"/>
              <a:t>25-30</a:t>
            </a:r>
            <a:r>
              <a:rPr lang="en-US" dirty="0"/>
              <a:t> robust companies annually. 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The Impact: Generates an estimated </a:t>
            </a:r>
            <a:r>
              <a:rPr lang="en-US" b="1" dirty="0">
                <a:solidFill>
                  <a:srgbClr val="00B050"/>
                </a:solidFill>
              </a:rPr>
              <a:t>$2 trillion </a:t>
            </a:r>
            <a:r>
              <a:rPr lang="en-US" b="1" dirty="0"/>
              <a:t>in global annual revenue from active alumni companies.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4F8E08-2A94-4A73-B5D4-DDF14FBB9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6144" y="1614201"/>
            <a:ext cx="3578431" cy="2337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896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A689D-014E-41DA-A14C-E1E1ABAE4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8FF62-AE90-4934-8F22-F8F890CE51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The Root Cause: It is rarely a lack of technical merit; it is a failure in commercial translation.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Venture capitalists do not invest in pure research; they invest in scalable commercial narratives.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50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42C71-C47A-4805-850D-638F70CE7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92CA1A-5539-4BDB-A231-7B59581BB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Shift the Focus: </a:t>
            </a:r>
            <a:r>
              <a:rPr lang="en-US" dirty="0"/>
              <a:t>Move from basic Project Management (meeting minutes) to real </a:t>
            </a:r>
            <a:r>
              <a:rPr lang="en-US" dirty="0">
                <a:solidFill>
                  <a:srgbClr val="00B0F0"/>
                </a:solidFill>
              </a:rPr>
              <a:t>Product</a:t>
            </a:r>
            <a:r>
              <a:rPr lang="en-US" dirty="0"/>
              <a:t> Management (vision/value).</a:t>
            </a:r>
          </a:p>
          <a:p>
            <a:endParaRPr lang="en-US" dirty="0"/>
          </a:p>
          <a:p>
            <a:r>
              <a:rPr lang="en-US" b="1" dirty="0"/>
              <a:t>"Train-the-Trainer" Model: </a:t>
            </a:r>
            <a:r>
              <a:rPr lang="en-US" dirty="0"/>
              <a:t>Equip management students with core </a:t>
            </a:r>
            <a:r>
              <a:rPr lang="en-US" dirty="0">
                <a:solidFill>
                  <a:srgbClr val="00B0F0"/>
                </a:solidFill>
              </a:rPr>
              <a:t>Product</a:t>
            </a:r>
            <a:r>
              <a:rPr lang="en-US" dirty="0"/>
              <a:t> Management skills like value proposition design and venture pitch mechanics.</a:t>
            </a:r>
          </a:p>
          <a:p>
            <a:endParaRPr lang="en-US" dirty="0"/>
          </a:p>
          <a:p>
            <a:r>
              <a:rPr lang="en-US" b="1" dirty="0"/>
              <a:t>Translate the Science: </a:t>
            </a:r>
            <a:r>
              <a:rPr lang="en-US" dirty="0"/>
              <a:t>Students partner with researchers to turn dense academic data into scalable, investor-ready commercial narratives.</a:t>
            </a:r>
          </a:p>
          <a:p>
            <a:endParaRPr lang="en-US" dirty="0"/>
          </a:p>
          <a:p>
            <a:r>
              <a:rPr lang="en-US" b="1" dirty="0"/>
              <a:t>Execute Active VC Outreach: </a:t>
            </a:r>
            <a:r>
              <a:rPr lang="en-US" dirty="0"/>
              <a:t>Leverage researchers' existing networks and targeted email campaigns to build a CRM of 40-50 vetted early-stage investors ahead of </a:t>
            </a:r>
            <a:r>
              <a:rPr lang="en-US" b="1" dirty="0">
                <a:solidFill>
                  <a:srgbClr val="00B050"/>
                </a:solidFill>
              </a:rPr>
              <a:t>Pitch Day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The Culmination (</a:t>
            </a:r>
            <a:r>
              <a:rPr lang="en-US" b="1" dirty="0">
                <a:solidFill>
                  <a:srgbClr val="00B050"/>
                </a:solidFill>
              </a:rPr>
              <a:t>Pitch Day): </a:t>
            </a:r>
            <a:r>
              <a:rPr lang="en-US" dirty="0"/>
              <a:t>The semester sprint ends with researchers pitching polished business models directly to early-stage VCs.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927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56600-D1DC-4AAE-9FA3-703C87B78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BD0A6-088F-41BA-85BE-3000F3DDF5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7137B1-C4CB-4543-940D-6EABD5B45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" y="423862"/>
            <a:ext cx="10325100" cy="601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1535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24FAB-7E3B-497A-8CAA-0E9A0AEAC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Pitch Day Example </a:t>
            </a:r>
            <a:r>
              <a:rPr lang="en-US" sz="2800" dirty="0"/>
              <a:t>(</a:t>
            </a:r>
            <a:r>
              <a:rPr lang="it-IT" sz="2800" dirty="0">
                <a:solidFill>
                  <a:srgbClr val="C00000"/>
                </a:solidFill>
              </a:rPr>
              <a:t>MIT</a:t>
            </a:r>
            <a:r>
              <a:rPr lang="it-IT" sz="2800" dirty="0"/>
              <a:t> MAS.665 AI Venture Studio)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EF684E1-399E-4DBF-9CCE-3548B81812EF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9440" y="1690688"/>
            <a:ext cx="700660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360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1024</TotalTime>
  <Words>486</Words>
  <Application>Microsoft Office PowerPoint</Application>
  <PresentationFormat>Widescreen</PresentationFormat>
  <Paragraphs>49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CS-8803 MGMT &amp; Leadership</vt:lpstr>
      <vt:lpstr>Software Leaders</vt:lpstr>
      <vt:lpstr>Product Management VS Project Management</vt:lpstr>
      <vt:lpstr>PowerPoint Presentation</vt:lpstr>
      <vt:lpstr>Discovery VS Commercial Viability</vt:lpstr>
      <vt:lpstr>The MIT Example</vt:lpstr>
      <vt:lpstr>PowerPoint Presentation</vt:lpstr>
      <vt:lpstr>The Objective</vt:lpstr>
      <vt:lpstr>PowerPoint Presentation</vt:lpstr>
      <vt:lpstr>Pitch Day Example (MIT MAS.665 AI Venture Studio)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Amr Arafa</dc:creator>
  <cp:lastModifiedBy>Amr Arafa</cp:lastModifiedBy>
  <cp:revision>3</cp:revision>
  <dcterms:created xsi:type="dcterms:W3CDTF">2026-04-28T21:48:16Z</dcterms:created>
  <dcterms:modified xsi:type="dcterms:W3CDTF">2026-04-29T14:53:58Z</dcterms:modified>
</cp:coreProperties>
</file>